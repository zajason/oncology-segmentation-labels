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Καλωσόρισμα. Η εργασία αυτή υλοποιεί αυτοματοποιημένο pipeline για παραγωγή συνθετικών segmentation masks σε ογκολογικές εικόνες — χωρίς χειροκίνητη επισημείωση. Σε 10 λεπτά θα δούμε πώς δουλεύει, τι μετρήσαμε και τι βγήκε. [30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κεντρικό ερώτημα: μπορούμε να αντικαταστήσουμε τη χειροκίνητη επισημείωση ειδικών με αλγοριθμικά παραγόμενα labels; Αριστερά: οι 5 στόχοι μας. Δεξιά: τα 7 βήματα του pipeline. Ξεκινάμε από δημόσια datasets, φτιάχνουμε manifests, τρέχουμε 12 μεθόδους, μετατρέπουμε σε YOLO labels, εκπαιδεύουμε YOLO και μετράμε. Αξιολόγηση σε 2 επίπεδα: IoU vs expert masks στο Phase 1, και mAP από downstream YOLO training στο Phase 2. [60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Τρία datasets, τρεις τροπικότητες. BUSI: ultrasound, 647 περιπτώσεις, έχουμε expert masks για όλες. BraTS: MRI, 24.422 2D slices από 3D volumes — χρησιμοποιήσαμε το FLAIR channel. Και στα δύο μετράμε IoU απευθείας vs expert. Το Brain Tumor είναι η εξαίρεση: δεν έχει expert masks, μόνο class labels. Οποιοδήποτε IoU για αυτό το dataset θα ήταν επιστημονικά λανθασμένο. Η στρατηγική χειρισμού του θα εξηγηθεί στο slide 10. [50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μέθοδοι με ακριβώς κοινό interface generate_masks(image, boxes, config) — αυτό επιτρέπει δίκαια σύγκριση. Classical: 9 μέθοδοι CPU, χωρίς training, άμεσα explainable. SAM: foundation model από Meta, bbox-prompted, χωρίς fine-tuning. Learned: U-Net vanilla (πλήρης εποπτεία — oracle baseline) και Guided U-Net (box-supervised — το reference method του IEEE reviewer). Η επιλογή των μεθόδων δεν ήταν τυχαία — απαντά απευθείας σε αιτήματα MICCAI reviewer. [60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υλοποίηση είναι μηχανικά σωστή, όχι μόνο αλγοριθμικά. build_manifests.py: ενοποιεί 3 διαφορετικά dataset formats σε ίδιο CSV — ώστε ο phase1_runner να μπορεί να τρέξει κάθε μέθοδο χωρίς αλλαγές. Model caching: SAM και U-Nets φορτώνονται μία φορά, όχι για κάθε εικόνα — διαφορά ταχύτητας τάξης μεγέθους. Early stopping στο YOLO: δεν σπαταλάμε compute σε epochs που δεν βελτιώνουν. Polygon export: cv2.findContours — ακριβώς αυτό ζήτησε ο Reviewer #2. [50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Αποτελέσματα Phase 1, BUSI. U-Net: IoU 0.909 — σχεδόν τέλεια επικάλυψη με τις expert masks. Guided U-Net: 0.896 — από κοντά. SAM: 0.777 χωρίς καθόλου training — αξιόλογο. Οι classical μέθοδοι έχουν μεγάλη διακύμανση. Morph GAC φτάνει 0.747 αλλά με 329 δευτερόλεπτα runtime για 647 εικόνες. Multi-Otsu: μόλις 0.052 — ακατάλληλο για ultrasound. Το κλειδί: τα learned methods ξεχωρίζουν καθαρά. [60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ίδιο μοτίβο στο BraTS. Guided U-Net πρώτο (0.856), U-Net δεύτερο (0.851). Η σύγκλιση cross-dataset είναι κρίσιμη: και στα δύο annotated datasets τα learned methods κερδίζουν καθαρά. SAM: 0.658 — μεγαλύτερο gap από BUSI (MRI πιο δύσκολο). Οι classical μέθοδοι είναι πιο ομοιόμορφες εδώ (0.48–0.64). Αυτή η consistency δίνει εμπιστοσύνη για τη χρήση U-Net/Guided U-Net στο Brain Tumor (domain transfer). [60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Πριν χρησιμοποιήσουμε τα learned models, τα εκπαιδεύσαμε και αξιολογήσαμε. 20 epochs ανά run. Το γράφημα δείχνει τη σύγκλιση validation IoU. BUSI U-Net: 0.8726 στο epoch 19. Guided U-Net BUSI: 0.8730 στο 17. BraTS και τα δύο: ~0.82 στο epoch 15. Δεξιά βλέπετε τη σύνοψη. Η επιλογή τους δεν ήταν υπόθεση — ήταν αποτέλεσμα μέτρησης. Και η consistency cross-dataset τους κάνει αξιόπιστη επιλογή για domain transfer στο Brain Tumor. [50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2: εκπαιδεύσαμε YOLO πάνω στα synthetic masks των top-2 μεθόδων. BUSI: guided_unet + YOLOv26x → M_mAP50=0.888. Όλα τα BUSI runs &gt; 0.87 — εξαιρετικό για synthetic labels. BraTS: 0.58–0.62 — χαμηλότερα, αλλά αναμενόμενο. MRI segmentation είναι πιο δύσκολο πρόβλημα. Σημαντικό: η μετρική μας είναι Mask mAP (M_mAP50), όχι Box mAP. Τα mini bar charts δείχνουν πόσο κοντά είναι όλα τα runs — καμία μέθοδος δεν κατακλύζει. [60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Brain Tumor είναι η δύσκολη περίπτωση. Δεν έχει expert masks — δεν υπολογίζουμε IoU. Στρατηγική: domain transfer από BraTS U-Net, weak box prompts, και indirect validation μέσω YOLO. Τα νέα αποτελέσματα Phase 2 επιβεβαιώνουν τη στρατηγική: U-Net + YOLOv11x → M_mAP50 = 0.757 — εξαιρετικό για dataset χωρίς GT. Σημαντικό εύρημα: Guided U-Net υποαποδίδει εδώ (0.43), γιατί χρειάζεται meaningful box prompts — με full-image boxes χάνει νόημα. Αυτό είναι ακριβώς γιατί η επιλογή U-Net (όχι Guided) για το domain transfer ήταν σωστή. Επικυρώθηκε χωρίς ψευδές IoU. [70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Ανακεφαλαίωση: Φτιάξαμε ένα ολοκληρωμένο, επαναλήψιμο pipeline. Δοκιμάσαμε 12 μεθόδους σε 2 GT datasets. U-Net και Guided U-Net κερδίζουν σταθερά. Τα synthetic masks παράγουν YOLO μοντέλα με υψηλό mAP. Για το Brain Tumor ήμασταν επιστημονικά ειλικρινείς. Ανοιχτά: Brain Tumor Phase 2, SAM-Med2D, και ο report για IEEE Access. Σας ευχαριστώ. [30 δευτ.]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Αυτοματοποιημένη Παραγωγή Συνθετικών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Συνόλων Δεδομένων Κατάτμησης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Ογκολογικές Ιατρικές Εικόνες από Δημόσια Διαθέσιμα Σύνολα Δεδομένων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2633472"/>
            <a:ext cx="3291840" cy="36576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</a:t>
            </a:r>
            <a:pPr algn="ctr"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 →  12 Μέθοδοι  →  Synthetic Masks  →  YOLO Labels  →  YOLO 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3310128"/>
            <a:ext cx="1463040" cy="347472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319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3310128"/>
            <a:ext cx="14630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319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2020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10128"/>
            <a:ext cx="1463040" cy="347472"/>
          </a:xfrm>
          <a:prstGeom prst="rect">
            <a:avLst/>
          </a:prstGeom>
          <a:solidFill>
            <a:srgbClr val="5B4EA8"/>
          </a:solidFill>
          <a:ln w="12700">
            <a:solidFill>
              <a:srgbClr val="5B4E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319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MRI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Εθνικό Μετσόβιο Πολυτεχνείο  ·  </a:t>
            </a:r>
            <a:pPr algn="ctr"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Resubmission</a:t>
            </a:r>
            <a:pPr algn="ctr" indent="0" marL="0">
              <a:buNone/>
            </a:pPr>
            <a:r>
              <a:rPr lang="en-US" sz="11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Στόχος &amp; Αρχιτεκτονική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393192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96112"/>
            <a:ext cx="3931920" cy="36576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05256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Βασικός Στόχος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Επαναλήψιμο pipeline παραγωγής συνθετικών segmentation masks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 12 μεθόδων με πραγματικά GT masks (BUSI, BraTS)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2706624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Μετατροπή masks → YOLO polygon labels (cv2.findContours)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 YOLOv11x-seg &amp; YOLOv26x-seg στα synthetic datasets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4059936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Ποσοτική σύγκριση: IoU/Dice (Phase 1) + mask mAP (Phase 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896112"/>
            <a:ext cx="461772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896112"/>
            <a:ext cx="46177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9052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Ροή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1353312"/>
            <a:ext cx="347472" cy="347472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380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Oncology Dataset (BUSI / BraTS / Brain Tumor)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2584" y="1700784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865376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Building  →  unified CSV format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72584" y="2212848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237744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404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Prompts  (GT-derived / weak)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72584" y="2724912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2889504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916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Mask Generation Methods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72584" y="3236976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3401568"/>
            <a:ext cx="347472" cy="347472"/>
          </a:xfrm>
          <a:prstGeom prst="rect">
            <a:avLst/>
          </a:prstGeom>
          <a:solidFill>
            <a:srgbClr val="1A6F7A"/>
          </a:solidFill>
          <a:ln w="12700">
            <a:solidFill>
              <a:srgbClr val="1A6F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Masks  →  YOLO Polygon Labels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72584" y="3749040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3913632"/>
            <a:ext cx="347472" cy="34747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941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Segmentation Training (v11 &amp; v26)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72584" y="4261104"/>
            <a:ext cx="36576" cy="164592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0" y="4425696"/>
            <a:ext cx="347472" cy="347472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37760" y="4453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IoU / Dice  (Phase 1)  +  mAP  (Phase 2)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Σύνολα Δεδομένων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δημόσια oncology datasets — διαφορετικές τροπικότητες &amp; annotations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265176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96112"/>
            <a:ext cx="2651760" cy="65836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418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Ultrasound Images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4592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Τροπικότητα: Υπέρηχος μαστού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27685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εικόνες — benign / malignant / normal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90779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GT masks: ✅ Υπάρχουν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538728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Boxes: αυτόματα από GT masks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169664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Αξιολόγηση: IoU / Dice vs GT 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896112"/>
            <a:ext cx="265176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96112"/>
            <a:ext cx="26517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9418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BraTS 2020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37560" y="12801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Segmentation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164592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Τροπικότητα: MRI (FLAIR channel)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27685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24.422 2D axial slices — γλοίωμα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90779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GT voxel masks: ✅ Υπάρχουν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538728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Boxes: αυτόματα από GT masks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4169664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Αξιολόγηση: IoU / Dice vs GT 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896112"/>
            <a:ext cx="265176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896112"/>
            <a:ext cx="2651760" cy="658368"/>
          </a:xfrm>
          <a:prstGeom prst="rect">
            <a:avLst/>
          </a:prstGeom>
          <a:solidFill>
            <a:srgbClr val="6A4FA8"/>
          </a:solidFill>
          <a:ln w="12700">
            <a:solidFill>
              <a:srgbClr val="6A4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9418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MRI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12801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— class folders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164592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Τροπικότητα: MRI εγκεφάλου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227685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7.200 εικόνες — 4 κατηγορίες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90779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GT masks: ❌ ΔΕΝ υπάρχουν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3538728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Boxes: weak full-image prompts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4169664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Αξιολόγηση: ΔΕΝ υπολογίζεται IoU ⚠️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Μέθοδοι Παραγωγής Μασκών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μέθοδοι · κοινό interface: generate_masks(image, boxes, config)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324612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96112"/>
            <a:ext cx="3246120" cy="402336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418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CV  —  9 μέθοδοι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3716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17007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Multi-Otsu Thresholding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2029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359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26883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+ Watershed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30175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334670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" y="367588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4005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GAC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4443984"/>
            <a:ext cx="3246120" cy="493776"/>
          </a:xfrm>
          <a:prstGeom prst="rect">
            <a:avLst/>
          </a:prstGeom>
          <a:solidFill>
            <a:srgbClr val="E8F0F7"/>
          </a:solidFill>
          <a:ln w="6350">
            <a:solidFill>
              <a:srgbClr val="C5D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· Χωρίς training · Γρήγορες · Explainable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84448" y="896112"/>
            <a:ext cx="192024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84448" y="896112"/>
            <a:ext cx="19202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941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75888" y="1389888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
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Anything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 AI, ViT-B)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bbox-prompted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γενικό σύνολο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4443984"/>
            <a:ext cx="1920240" cy="493776"/>
          </a:xfrm>
          <a:prstGeom prst="rect">
            <a:avLst/>
          </a:prstGeom>
          <a:solidFill>
            <a:srgbClr val="E5F5F4"/>
          </a:solidFill>
          <a:ln w="6350">
            <a:solidFill>
              <a:srgbClr val="C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480560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Pre-trained, no fine-tune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33288" y="896112"/>
            <a:ext cx="32004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33288" y="896112"/>
            <a:ext cx="3200400" cy="402336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24728" y="9418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 —  2 μέθοδοι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24728" y="1408176"/>
            <a:ext cx="3017520" cy="148132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4630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U-Net  (Vanilla)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17373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εποπτεία (GT masks)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baseline — upper bound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al., 2015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24728" y="2999232"/>
            <a:ext cx="3017520" cy="1481328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05409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U-Net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332841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Box-supervised (image + bbox + GT)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Βιlic &amp; Egger, IEEE SMC 2023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(DOI 10.1109/SMC53992.2023.10324276)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33288" y="4443984"/>
            <a:ext cx="3200400" cy="493776"/>
          </a:xfrm>
          <a:prstGeom prst="rect">
            <a:avLst/>
          </a:prstGeom>
          <a:solidFill>
            <a:srgbClr val="E8F8EF"/>
          </a:solidFill>
          <a:ln w="6350">
            <a:solidFill>
              <a:srgbClr val="C5D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4728" y="448056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απαιτείται · Καλύτερη ακρίβεια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&amp; Υλοποίηση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reproducible pipeline — ένα αρχείο ανά μέθοδο, κοινό interface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969264"/>
            <a:ext cx="1883664" cy="7498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" y="10241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build_manifests.py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4081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format → unified 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0592" y="1234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C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969264"/>
            <a:ext cx="18836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0241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phase1_runner.py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4081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runner · κοινό interface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98848" y="1234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C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54296" y="969264"/>
            <a:ext cx="1883664" cy="749808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54296" y="10241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54296" y="14081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/ Dice vs GT masks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47104" y="1234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C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02552" y="969264"/>
            <a:ext cx="1883664" cy="74980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02552" y="10241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train_yolo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phase2.py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14081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training + CSV export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" y="1901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Βασικές Μηχανικές Συνεισφορές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249424"/>
            <a:ext cx="40416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249424"/>
            <a:ext cx="54864" cy="105156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23408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 Builders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5216" y="263347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 / BraTS / Brain Tumor — τρία διαφορετικά formats → ίδια CSV δομή. Επαναλήψιμο σε νέα datasets.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45152" y="2249424"/>
            <a:ext cx="40416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2249424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3408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Caching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73168" y="263347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SAM, U-Net και Guided U-Net φορτώνονται μία φορά — αποφυγή reload ανά εικόνα. Σημαντική εξοικονόμηση χρόνου.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40416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429000"/>
            <a:ext cx="54864" cy="1051560"/>
          </a:xfrm>
          <a:prstGeom prst="rect">
            <a:avLst/>
          </a:prstGeom>
          <a:solidFill>
            <a:srgbClr val="8B4FAA"/>
          </a:solidFill>
          <a:ln w="12700">
            <a:solidFill>
              <a:srgbClr val="8B4F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520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 YOLO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5216" y="3813048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Patience-based αντί fixed 50 epochs. Αποτρέπει overfitting, μειώνει υπολογιστικό κόστος.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45152" y="3429000"/>
            <a:ext cx="404164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5152" y="3429000"/>
            <a:ext cx="54864" cy="1051560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5204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Polygon Export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73168" y="3813048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 → YOLO txt polygon labels αυτόματα. Απαντά απευθείας σε MICCAI Reviewer #2.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Αποτελέσματα BUSI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εικόνες · 12 μέθοδοι · Αξιολόγηση vs Expert GT Masks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5760720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IoU ανά μέθοδο  (0 – 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81912" y="1207008"/>
            <a:ext cx="4572" cy="3584448"/>
          </a:xfrm>
          <a:prstGeom prst="rect">
            <a:avLst/>
          </a:prstGeom>
          <a:solidFill>
            <a:srgbClr val="C5DCEA"/>
          </a:solidFill>
          <a:ln w="12700">
            <a:solidFill>
              <a:srgbClr val="C5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20700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81912" y="124882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912" y="1248827"/>
            <a:ext cx="3441125" cy="215067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20700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150571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Guid. U-Net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81912" y="154753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912" y="1547531"/>
            <a:ext cx="3391912" cy="215067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150571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804416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81912" y="1846235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912" y="1846235"/>
            <a:ext cx="2941424" cy="21506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1804416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103120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 GAC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81912" y="2144939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912" y="2144939"/>
            <a:ext cx="2827855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104" y="2103120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2401824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81912" y="2443643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912" y="2443643"/>
            <a:ext cx="2657502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2401824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270052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81912" y="274234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912" y="2742347"/>
            <a:ext cx="2366010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04104" y="270052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299923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81912" y="304105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912" y="3041051"/>
            <a:ext cx="1730027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04104" y="299923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" y="3297936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Walker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581912" y="3339755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81912" y="3339755"/>
            <a:ext cx="1067544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04104" y="3297936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" y="3596640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Otsu+WS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81912" y="3638459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81912" y="3638459"/>
            <a:ext cx="571628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04104" y="3596640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" y="3895344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581912" y="3937163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81912" y="3937163"/>
            <a:ext cx="492130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3895344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2608" y="419404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581912" y="423586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81912" y="4235867"/>
            <a:ext cx="492130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4104" y="419404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" y="449275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Multi-Otsu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581912" y="453457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81912" y="4534571"/>
            <a:ext cx="196852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04104" y="449275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960120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26480" y="960120"/>
            <a:ext cx="54864" cy="859536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54496" y="1033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🥇  U-Net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54496" y="1289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0.909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54496" y="1563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0.952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26480" y="1947672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1947672"/>
            <a:ext cx="54864" cy="859536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54496" y="2020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🥈  Guided U-Net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254496" y="2276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0.896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54496" y="2551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0.944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2935224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26480" y="2935224"/>
            <a:ext cx="54864" cy="8595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4496" y="3008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🥉  SAM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254496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0.777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54496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3922776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126480" y="3922776"/>
            <a:ext cx="54864" cy="859536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54496" y="39959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Classical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254496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0.747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254496" y="4526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GAC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Συμπέρασμα: Τα learned methods (U-Net, Guided U-Net) υπερτερούν καθαρά σε όλο το εύρος μεθόδων.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Αποτελέσματα BraTS 2020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24.422 slices · MRI Glioma (FLAIR) · Αξιολόγηση vs Expert GT Masks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5760720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IoU ανά μέθοδο  (0 – 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81912" y="1207008"/>
            <a:ext cx="4572" cy="3584448"/>
          </a:xfrm>
          <a:prstGeom prst="rect">
            <a:avLst/>
          </a:prstGeom>
          <a:solidFill>
            <a:srgbClr val="C5DCEA"/>
          </a:solidFill>
          <a:ln w="12700">
            <a:solidFill>
              <a:srgbClr val="C5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20700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Guid. U-Net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81912" y="124882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912" y="1248827"/>
            <a:ext cx="3240487" cy="215067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20700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150571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81912" y="154753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912" y="1547531"/>
            <a:ext cx="3221559" cy="215067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150571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804416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81912" y="1846235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912" y="1846235"/>
            <a:ext cx="2490935" cy="21506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1804416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103120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81912" y="2144939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912" y="2144939"/>
            <a:ext cx="2415223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104" y="2103120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2401824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Otsu+WS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81912" y="2443643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912" y="2443643"/>
            <a:ext cx="2392509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2401824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270052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Walker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81912" y="274234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912" y="2742347"/>
            <a:ext cx="2328154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04104" y="270052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299923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81912" y="304105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912" y="3041051"/>
            <a:ext cx="2324368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04104" y="299923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" y="3297936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581912" y="3339755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81912" y="3339755"/>
            <a:ext cx="2324368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04104" y="3297936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" y="3596640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 GAC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81912" y="3638459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81912" y="3638459"/>
            <a:ext cx="2286512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04104" y="3596640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" y="3895344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581912" y="3937163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81912" y="3937163"/>
            <a:ext cx="2267584" cy="21506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3895344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2608" y="4194048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581912" y="4235867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81912" y="4235867"/>
            <a:ext cx="1889022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4104" y="4194048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" y="4492752"/>
            <a:ext cx="12344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Multi-Otsu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581912" y="4534571"/>
            <a:ext cx="3785616" cy="215067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81912" y="4534571"/>
            <a:ext cx="1820881" cy="215067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04104" y="4492752"/>
            <a:ext cx="5029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960120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26480" y="960120"/>
            <a:ext cx="54864" cy="859536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54496" y="1033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🥇  Guided U-Net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54496" y="1289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0.856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54496" y="1563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0.919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26480" y="1947672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1947672"/>
            <a:ext cx="54864" cy="859536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54496" y="2020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🥈  U-Net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254496" y="2276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0.851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54496" y="2551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0.917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2935224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26480" y="2935224"/>
            <a:ext cx="54864" cy="8595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4496" y="3008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🥉  SAM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254496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0.658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54496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3922776"/>
            <a:ext cx="2743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126480" y="3922776"/>
            <a:ext cx="54864" cy="859536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54496" y="39959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Classical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254496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 0.638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254496" y="4526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Συμπέρασμα: Guided U-Net &amp; U-Net κορυφαίοι και στο BraTS — cross-dataset consistency, βάση για domain transfer.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Εκπαίδευση U-Net &amp; Guided U-Net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runs · validation IoU per epoch — από τα αρχεία results/phase1d_training/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5440680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144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Validation IoU  (20 epochs)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54864" cy="704088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25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U040  BUSI · U-Net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IoU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6824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ep 19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746992"/>
            <a:ext cx="443484" cy="154960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04038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0380" y="1539118"/>
            <a:ext cx="443484" cy="362834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038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2044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1482425"/>
            <a:ext cx="443484" cy="419527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00050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1452189"/>
            <a:ext cx="443484" cy="449763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050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8056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437071"/>
            <a:ext cx="443484" cy="464881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19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60620" y="133502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0620" y="1463528"/>
            <a:ext cx="443484" cy="438424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0620" y="191109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112264"/>
            <a:ext cx="54864" cy="7040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U042  BUSI · Guided U-Net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02336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IoU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0.8730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2551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ep 17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2679924"/>
            <a:ext cx="443484" cy="907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4038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40380" y="2422916"/>
            <a:ext cx="443484" cy="34771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4038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2044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2354885"/>
            <a:ext cx="443484" cy="415747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00050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00500" y="2339767"/>
            <a:ext cx="443484" cy="430865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0050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14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8056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80560" y="2305751"/>
            <a:ext cx="443484" cy="464881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17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60620" y="220370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60620" y="2328428"/>
            <a:ext cx="443484" cy="4422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0620" y="277977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2980944"/>
            <a:ext cx="54864" cy="70408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29626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U041  BraTS · U-Net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02336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IoU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02336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0.8178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234440" y="34198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ep 15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3491911"/>
            <a:ext cx="443484" cy="147401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4038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40380" y="3435218"/>
            <a:ext cx="443484" cy="204094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4038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52044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520440" y="3397423"/>
            <a:ext cx="443484" cy="241889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2044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00050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00500" y="3393643"/>
            <a:ext cx="443484" cy="245669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0050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13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48056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80560" y="3382305"/>
            <a:ext cx="443484" cy="257007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056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15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960620" y="307238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60620" y="3401202"/>
            <a:ext cx="443484" cy="23811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60620" y="364845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3849624"/>
            <a:ext cx="54864" cy="704088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2336" y="3831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U043  BraTS · Guided U-Net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402336" y="4087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IoU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02336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0.8206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234440" y="42885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ep 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56032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4360591"/>
            <a:ext cx="443484" cy="147401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04038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40380" y="4303898"/>
            <a:ext cx="443484" cy="204094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4038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52044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20440" y="4273662"/>
            <a:ext cx="443484" cy="234330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2044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00050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00500" y="4262323"/>
            <a:ext cx="443484" cy="245669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0050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13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48056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80560" y="4239646"/>
            <a:ext cx="443484" cy="268346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8056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15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960620" y="3941064"/>
            <a:ext cx="443484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60620" y="4277441"/>
            <a:ext cx="443484" cy="230551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60620" y="4517136"/>
            <a:ext cx="44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20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960120"/>
          <a:ext cx="3218688" cy="1572768"/>
        </p:xfrm>
        <a:graphic>
          <a:graphicData uri="http://schemas.openxmlformats.org/drawingml/2006/table">
            <a:tbl>
              <a:tblPr/>
              <a:tblGrid>
                <a:gridCol w="512064"/>
                <a:gridCol w="566928"/>
                <a:gridCol w="841248"/>
                <a:gridCol w="804672"/>
                <a:gridCol w="493776"/>
              </a:tblGrid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Val IoU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Epoch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U040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BUSI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0.8726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U042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BUSI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0.8730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U041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BraTS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5A8A"/>
                          </a:solidFill>
                        </a:rPr>
                        <a:t>0.8178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U043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BraTS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0.8206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Shape 99"/>
          <p:cNvSpPr/>
          <p:nvPr/>
        </p:nvSpPr>
        <p:spPr>
          <a:xfrm>
            <a:off x="5742432" y="2670048"/>
            <a:ext cx="321868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742432" y="2670048"/>
            <a:ext cx="3218688" cy="329184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815584" y="267919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Γιατί U-Net / Guided U-Net;</a:t>
            </a:r>
            <a:endParaRPr lang="en-US" sz="1150" dirty="0"/>
          </a:p>
        </p:txBody>
      </p:sp>
      <p:sp>
        <p:nvSpPr>
          <p:cNvPr id="105" name="Text 102"/>
          <p:cNvSpPr/>
          <p:nvPr/>
        </p:nvSpPr>
        <p:spPr>
          <a:xfrm>
            <a:off x="5815584" y="305409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Εκπαιδεύτηκαν &amp; αξιολογήθηκαν με validation IoU — όχι τυφλή χρήση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5815584" y="347472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νικητές και στα 2 GT datasets (BUSI + BraTS)</a:t>
            </a:r>
            <a:endParaRPr lang="en-US" sz="1000" dirty="0"/>
          </a:p>
        </p:txBody>
      </p:sp>
      <p:sp>
        <p:nvSpPr>
          <p:cNvPr id="107" name="Text 104"/>
          <p:cNvSpPr/>
          <p:nvPr/>
        </p:nvSpPr>
        <p:spPr>
          <a:xfrm>
            <a:off x="5815584" y="38953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Αντικειμενική επιλογή βάσει μετρήσιμης απόδοσης</a:t>
            </a:r>
            <a:endParaRPr lang="en-US" sz="1000" dirty="0"/>
          </a:p>
        </p:txBody>
      </p:sp>
      <p:sp>
        <p:nvSpPr>
          <p:cNvPr id="108" name="Text 105"/>
          <p:cNvSpPr/>
          <p:nvPr/>
        </p:nvSpPr>
        <p:spPr>
          <a:xfrm>
            <a:off x="5815584" y="43159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Αξιόπιστο checkpoint για domain transfer (Brain Tumor)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YOLO Segmentation Training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masks → YOLO polygon labels → YOLOv11x-seg &amp; YOLOv26x-seg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896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  (647 εικόνες)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88720"/>
          <a:ext cx="4206240" cy="1572768"/>
        </p:xfrm>
        <a:graphic>
          <a:graphicData uri="http://schemas.openxmlformats.org/drawingml/2006/table">
            <a:tbl>
              <a:tblPr/>
              <a:tblGrid>
                <a:gridCol w="1170432"/>
                <a:gridCol w="1115568"/>
                <a:gridCol w="960120"/>
                <a:gridCol w="960120"/>
              </a:tblGrid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Μέθοδος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Μοντέλο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M_mAP50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M_mAP50-95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0.888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0.661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0.883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0.677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0.877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0.661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0.871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0.671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82880" y="2852928"/>
            <a:ext cx="4206240" cy="822960"/>
          </a:xfrm>
          <a:prstGeom prst="rect">
            <a:avLst/>
          </a:prstGeom>
          <a:solidFill>
            <a:srgbClr val="E8F8F4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2889504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Synthetic masks → YOLO με M_mAP50 &gt; 0.87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Ισχυρή ένδειξη ποιότητας synthetic labels στο BUSI.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2608" y="4572000"/>
            <a:ext cx="3986784" cy="9144"/>
          </a:xfrm>
          <a:prstGeom prst="rect">
            <a:avLst/>
          </a:prstGeom>
          <a:solidFill>
            <a:srgbClr val="C5DCEA"/>
          </a:solidFill>
          <a:ln w="12700">
            <a:solidFill>
              <a:srgbClr val="C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6865" y="4141135"/>
            <a:ext cx="548183" cy="430865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3903391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45902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GU+v26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513561" y="4197828"/>
            <a:ext cx="548183" cy="374172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9304" y="3960084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89304" y="45902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UN+v26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10257" y="4265859"/>
            <a:ext cx="548183" cy="30614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0" y="4028115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86000" y="45902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GU+v11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506953" y="4333890"/>
            <a:ext cx="548183" cy="23811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82696" y="409614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82696" y="45902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UN+v11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26280" y="914400"/>
            <a:ext cx="36576" cy="3986784"/>
          </a:xfrm>
          <a:prstGeom prst="rect">
            <a:avLst/>
          </a:prstGeom>
          <a:solidFill>
            <a:srgbClr val="C5DCEA"/>
          </a:solidFill>
          <a:ln w="12700">
            <a:solidFill>
              <a:srgbClr val="C5DC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8961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BraTS 2020  (24.422 slices)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88720"/>
          <a:ext cx="4251960" cy="1572768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960120"/>
                <a:gridCol w="950976"/>
              </a:tblGrid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Μέθοδος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Μοντέλο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M_mAP50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M_mAP50-95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0.617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0.590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0.586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0.372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709160" y="2852928"/>
            <a:ext cx="4251960" cy="822960"/>
          </a:xfrm>
          <a:prstGeom prst="rect">
            <a:avLst/>
          </a:prstGeom>
          <a:solidFill>
            <a:srgbClr val="E8F4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18888" y="2889504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Δυσκολότερο dataset — χαμηλότερο mAP αναμενόμενο.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pipeline παραμένει λειτουργικό και πλήρως μετρήσιμο.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18888" y="4572000"/>
            <a:ext cx="4023360" cy="9144"/>
          </a:xfrm>
          <a:prstGeom prst="rect">
            <a:avLst/>
          </a:prstGeom>
          <a:solidFill>
            <a:srgbClr val="C5DCEA"/>
          </a:solidFill>
          <a:ln w="12700">
            <a:solidFill>
              <a:srgbClr val="C5DC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045202" y="4192158"/>
            <a:ext cx="553212" cy="37984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18888" y="395441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818888" y="4590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GU+v11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51042" y="4282867"/>
            <a:ext cx="553212" cy="28913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824728" y="4045123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824728" y="4590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UN+v11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7056882" y="4345229"/>
            <a:ext cx="553212" cy="226771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30568" y="4107485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830568" y="4590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UN+v26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062722" y="4367906"/>
            <a:ext cx="553212" cy="204094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36408" y="413016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836408" y="4590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GU+v26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— Στρατηγική &amp; Επικύρωση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5486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expert GT masks → indirect validation μέσω downstream YOLO Phase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0" y="4828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4023360" cy="1755648"/>
          </a:xfrm>
          <a:prstGeom prst="rect">
            <a:avLst/>
          </a:prstGeom>
          <a:solidFill>
            <a:srgbClr val="FEF9E7"/>
          </a:solidFill>
          <a:ln w="1524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96112"/>
            <a:ext cx="40233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052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Το Πρόβλημα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υπάρχουν expert segmentation masks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7.200 εικόνες · μόνο class labels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10312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υπολογίζεται IoU / Dice — επιστημονικά λάθος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761488"/>
            <a:ext cx="4023360" cy="2194560"/>
          </a:xfrm>
          <a:prstGeom prst="rect">
            <a:avLst/>
          </a:prstGeom>
          <a:solidFill>
            <a:srgbClr val="EAF8F5"/>
          </a:solidFill>
          <a:ln w="15240">
            <a:solidFill>
              <a:srgbClr val="1A9B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761488"/>
            <a:ext cx="4023360" cy="365760"/>
          </a:xfrm>
          <a:prstGeom prst="rect">
            <a:avLst/>
          </a:prstGeom>
          <a:solidFill>
            <a:srgbClr val="1A9B5E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706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Η Στρατηγική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Transfer: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BraTS-trained U-Net → inference στο Brain Tumor (κοινή brain-MRI domain)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Box Prompts: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39684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boxes για tumor classes, empty για notumor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Validation: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535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YOLO mAP ως proxy ποιότητας masks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0832" y="896112"/>
            <a:ext cx="4590288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C5DC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70832" y="896112"/>
            <a:ext cx="4590288" cy="365760"/>
          </a:xfrm>
          <a:prstGeom prst="rect">
            <a:avLst/>
          </a:prstGeom>
          <a:solidFill>
            <a:srgbClr val="0D5A8A"/>
          </a:solidFill>
          <a:ln w="12700">
            <a:solidFill>
              <a:srgbClr val="0D5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905256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Phase 2 YOLO — Brain Tumor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62272" y="1353312"/>
          <a:ext cx="4407408" cy="1627632"/>
        </p:xfrm>
        <a:graphic>
          <a:graphicData uri="http://schemas.openxmlformats.org/drawingml/2006/table">
            <a:tbl>
              <a:tblPr/>
              <a:tblGrid>
                <a:gridCol w="1143000"/>
                <a:gridCol w="1207008"/>
                <a:gridCol w="1024128"/>
                <a:gridCol w="1033272"/>
              </a:tblGrid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Μέθοδος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Μοντέλο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M_mAP50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M_mAP50-95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A8A"/>
                    </a:solidFill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0.757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0.581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9B5E"/>
                          </a:solidFill>
                        </a:rPr>
                        <a:t>0.756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0.556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YOLOv11x-seg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0.434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0.274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Guided U-Net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YOLOv26x-seg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0.428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0.264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462272" y="3108960"/>
            <a:ext cx="4407408" cy="1773936"/>
          </a:xfrm>
          <a:prstGeom prst="rect">
            <a:avLst/>
          </a:prstGeom>
          <a:solidFill>
            <a:srgbClr val="E8F8F4"/>
          </a:solidFill>
          <a:ln w="12700">
            <a:solidFill>
              <a:srgbClr val="1A9B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53712" y="3163824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Ευρήματα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53712" y="3456432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(domain transfer): M_mAP50 ≈ 0.757 — η στρατηγική λειτούργησε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553712" y="3895344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U-Net υποαποδίδει (0.43): χρειάζεται meaningful boxes, όχι weak prompts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53712" y="4334256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Επιβεβαίωση χωρίς ποτέ να αναφέρουμε ψευδές IoU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Συμπεράσματα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786384"/>
            <a:ext cx="54864" cy="859536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🔁  Επαναλήψιμο Pipeline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" y="117043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Πλήρες, modular pipeline: raw dataset → manifest → masks → YOLO labels → YOLO 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786384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786384"/>
            <a:ext cx="54864" cy="859536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Ποσοτική Επιβεβαίωση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17136" y="117043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+ 24.422 cases με expert GT. U-Net: IoU 0.909 (BUSI) / 0.851 (BraTS).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1737360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737360"/>
            <a:ext cx="54864" cy="8595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8288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U-Net &amp; Guided U-Net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" y="21214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νικητές και στα 2 GT datasets. SAM 2ος, best classical 3ος.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1737360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737360"/>
            <a:ext cx="54864" cy="8595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18288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YOLO Validation σε 3 Datasets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17136" y="21214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M_mAP50: 0.888 (BUSI) · 0.617 (BraTS) · 0.757 (Brain Tumor, U-Net DT).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2688336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2688336"/>
            <a:ext cx="54864" cy="859536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7797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Brain Tumor — Ειλικρίνεια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" y="307238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transfer επιβεβαιώθηκε μέσω downstream YOLO — χωρίς ποτέ ψευδές IoU.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2688336"/>
            <a:ext cx="4078224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2688336"/>
            <a:ext cx="54864" cy="859536"/>
          </a:xfrm>
          <a:prstGeom prst="rect">
            <a:avLst/>
          </a:prstGeom>
          <a:solidFill>
            <a:srgbClr val="1A8FC0"/>
          </a:solidFill>
          <a:ln w="12700">
            <a:solidFill>
              <a:srgbClr val="1A8F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7136" y="27797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Επόμενα Βήματα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17136" y="307238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SAM-Med2D (bonus) · Πλήρεις qualitative figures · IEEE Access report submission.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Ευχαριστούμε για την προσοχή σας  ·  Ερωτήσεις;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Αυτοματοποιημένη Παραγωγή Συνθετικών Datasets Κατάτμησης</dc:title>
  <dc:subject>PptxGenJS Presentation</dc:subject>
  <dc:creator>Oncology Team – NTUA</dc:creator>
  <cp:lastModifiedBy>Oncology Team – NTUA</cp:lastModifiedBy>
  <cp:revision>1</cp:revision>
  <dcterms:created xsi:type="dcterms:W3CDTF">2026-05-24T16:27:53Z</dcterms:created>
  <dcterms:modified xsi:type="dcterms:W3CDTF">2026-05-24T16:27:53Z</dcterms:modified>
</cp:coreProperties>
</file>